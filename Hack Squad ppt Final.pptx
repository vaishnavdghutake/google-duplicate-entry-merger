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000000"/>
          </a:solidFill>
        </a:fill>
      </a:tcStyle>
    </a:band2H>
    <a:firstCo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lastRow>
    <a:firstRow>
      <a:tcTxStyle b="on" i="off">
        <a:fontRef idx="major">
          <a:srgbClr val="000000"/>
        </a:fontRef>
        <a:srgbClr val="000000"/>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8"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19"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sp>
        <p:nvSpPr>
          <p:cNvPr id="27"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28"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sp>
        <p:nvSpPr>
          <p:cNvPr id="36"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37"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sp>
        <p:nvSpPr>
          <p:cNvPr id="45"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46"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sp>
        <p:nvSpPr>
          <p:cNvPr id="54"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55"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sp>
        <p:nvSpPr>
          <p:cNvPr id="63"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64"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sp>
        <p:nvSpPr>
          <p:cNvPr id="72"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73"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sp>
        <p:nvSpPr>
          <p:cNvPr id="81"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82"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sp>
        <p:nvSpPr>
          <p:cNvPr id="90"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91"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sp>
        <p:nvSpPr>
          <p:cNvPr id="99"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100"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08" name="Shape 0"/>
          <p:cNvSpPr/>
          <p:nvPr/>
        </p:nvSpPr>
        <p:spPr>
          <a:xfrm>
            <a:off x="0" y="0"/>
            <a:ext cx="14630400" cy="8229600"/>
          </a:xfrm>
          <a:prstGeom prst="rect">
            <a:avLst/>
          </a:prstGeom>
          <a:solidFill>
            <a:srgbClr val="1B1B1E"/>
          </a:solidFill>
          <a:ln w="12700">
            <a:miter lim="400000"/>
          </a:ln>
        </p:spPr>
        <p:txBody>
          <a:bodyPr lIns="45718" tIns="45718" rIns="45718" bIns="45718"/>
          <a:lstStyle/>
          <a:p>
            <a:pPr>
              <a:defRPr>
                <a:latin typeface="+mn-lt"/>
                <a:ea typeface="+mn-ea"/>
                <a:cs typeface="+mn-cs"/>
                <a:sym typeface="Calibri"/>
              </a:defRPr>
            </a:pPr>
          </a:p>
        </p:txBody>
      </p:sp>
      <p:sp>
        <p:nvSpPr>
          <p:cNvPr id="109" name="Shape 1"/>
          <p:cNvSpPr/>
          <p:nvPr/>
        </p:nvSpPr>
        <p:spPr>
          <a:xfrm>
            <a:off x="0" y="0"/>
            <a:ext cx="14630400" cy="8229600"/>
          </a:xfrm>
          <a:prstGeom prst="rect">
            <a:avLst/>
          </a:prstGeom>
          <a:solidFill>
            <a:srgbClr val="27272B"/>
          </a:solidFill>
          <a:ln w="12700">
            <a:miter lim="400000"/>
          </a:ln>
        </p:spPr>
        <p:txBody>
          <a:bodyPr lIns="45718" tIns="45718" rIns="45718" bIns="45718"/>
          <a:lstStyle/>
          <a:p>
            <a:pPr>
              <a:defRPr>
                <a:latin typeface="+mn-lt"/>
                <a:ea typeface="+mn-ea"/>
                <a:cs typeface="+mn-cs"/>
                <a:sym typeface="Calibri"/>
              </a:defRPr>
            </a:pPr>
          </a:p>
        </p:txBody>
      </p:sp>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2192020" y="923925"/>
            <a:ext cx="11704320" cy="20021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8166100" y="2926079"/>
            <a:ext cx="5730240" cy="53035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0211466" y="7493000"/>
            <a:ext cx="273655" cy="269239"/>
          </a:xfrm>
          <a:prstGeom prst="rect">
            <a:avLst/>
          </a:prstGeom>
          <a:ln w="12700">
            <a:miter lim="400000"/>
          </a:ln>
        </p:spPr>
        <p:txBody>
          <a:bodyPr wrap="none" lIns="45718" tIns="45718" rIns="45718" bIns="45718"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9"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sp>
        <p:nvSpPr>
          <p:cNvPr id="120" name="Text 0"/>
          <p:cNvSpPr txBox="1"/>
          <p:nvPr/>
        </p:nvSpPr>
        <p:spPr>
          <a:xfrm>
            <a:off x="6350437" y="2651282"/>
            <a:ext cx="7415929" cy="13600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400"/>
              </a:lnSpc>
              <a:defRPr b="1" sz="4300">
                <a:solidFill>
                  <a:srgbClr val="FFE14D"/>
                </a:solidFill>
                <a:latin typeface="Comfortaa Bold"/>
                <a:ea typeface="Comfortaa Bold"/>
                <a:cs typeface="Comfortaa Bold"/>
                <a:sym typeface="Comfortaa Bold"/>
              </a:defRPr>
            </a:lvl1pPr>
          </a:lstStyle>
          <a:p>
            <a:pPr/>
            <a:r>
              <a:t>Building Our First Duplicate Entry Merger Tool</a:t>
            </a:r>
          </a:p>
        </p:txBody>
      </p:sp>
      <p:sp>
        <p:nvSpPr>
          <p:cNvPr id="121" name="Text 1"/>
          <p:cNvSpPr txBox="1"/>
          <p:nvPr/>
        </p:nvSpPr>
        <p:spPr>
          <a:xfrm>
            <a:off x="6350437" y="4393167"/>
            <a:ext cx="7624989" cy="7670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2000">
                <a:solidFill>
                  <a:srgbClr val="D7D4CC"/>
                </a:solidFill>
                <a:latin typeface="Raleway Medium"/>
                <a:ea typeface="Raleway Medium"/>
                <a:cs typeface="Raleway Medium"/>
                <a:sym typeface="Raleway Medium"/>
              </a:defRPr>
            </a:lvl1pPr>
          </a:lstStyle>
          <a:p>
            <a:pPr/>
            <a:r>
              <a:t>A journey through web scraping, data analysis, and problem-solving as first-year college students learning to code from scratch.</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Text 0"/>
          <p:cNvSpPr txBox="1"/>
          <p:nvPr/>
        </p:nvSpPr>
        <p:spPr>
          <a:xfrm>
            <a:off x="795669" y="500427"/>
            <a:ext cx="4443811" cy="5537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4000">
                <a:solidFill>
                  <a:srgbClr val="FFE14D"/>
                </a:solidFill>
                <a:latin typeface="Comfortaa Bold"/>
                <a:ea typeface="Comfortaa Bold"/>
                <a:cs typeface="Comfortaa Bold"/>
                <a:sym typeface="Comfortaa Bold"/>
              </a:defRPr>
            </a:lvl1pPr>
          </a:lstStyle>
          <a:p>
            <a:pPr/>
            <a:r>
              <a:t>Starting from Zero</a:t>
            </a:r>
          </a:p>
        </p:txBody>
      </p:sp>
      <p:sp>
        <p:nvSpPr>
          <p:cNvPr id="124" name="Text 1"/>
          <p:cNvSpPr txBox="1"/>
          <p:nvPr/>
        </p:nvSpPr>
        <p:spPr>
          <a:xfrm>
            <a:off x="815848" y="1976427"/>
            <a:ext cx="2045321" cy="36194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lvl="1">
              <a:lnSpc>
                <a:spcPts val="2700"/>
              </a:lnSpc>
              <a:defRPr b="1" sz="3000">
                <a:solidFill>
                  <a:srgbClr val="FFE14D"/>
                </a:solidFill>
                <a:latin typeface="Comfortaa Bold"/>
                <a:ea typeface="Comfortaa Bold"/>
                <a:cs typeface="Comfortaa Bold"/>
                <a:sym typeface="Comfortaa Bold"/>
              </a:defRPr>
            </a:pPr>
            <a:r>
              <a:t>Our Reality</a:t>
            </a:r>
          </a:p>
        </p:txBody>
      </p:sp>
      <p:sp>
        <p:nvSpPr>
          <p:cNvPr id="125" name="Text 2"/>
          <p:cNvSpPr txBox="1"/>
          <p:nvPr/>
        </p:nvSpPr>
        <p:spPr>
          <a:xfrm>
            <a:off x="807064" y="2442995"/>
            <a:ext cx="6150057" cy="15515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As first-year students, we entered this project with very basic coding knowledge. We quickly realised that breaking down the problem into manageable pieces was key to success. </a:t>
            </a:r>
          </a:p>
        </p:txBody>
      </p:sp>
      <p:sp>
        <p:nvSpPr>
          <p:cNvPr id="126" name="Text 4"/>
          <p:cNvSpPr txBox="1"/>
          <p:nvPr/>
        </p:nvSpPr>
        <p:spPr>
          <a:xfrm>
            <a:off x="844265" y="4989705"/>
            <a:ext cx="2560080" cy="36194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3000">
                <a:solidFill>
                  <a:srgbClr val="FFE14D"/>
                </a:solidFill>
                <a:latin typeface="Comfortaa Bold"/>
                <a:ea typeface="Comfortaa Bold"/>
                <a:cs typeface="Comfortaa Bold"/>
                <a:sym typeface="Comfortaa Bold"/>
              </a:defRPr>
            </a:lvl1pPr>
          </a:lstStyle>
          <a:p>
            <a:pPr/>
            <a:r>
              <a:t>Our Approach</a:t>
            </a:r>
          </a:p>
        </p:txBody>
      </p:sp>
      <p:grpSp>
        <p:nvGrpSpPr>
          <p:cNvPr id="129" name="Group"/>
          <p:cNvGrpSpPr/>
          <p:nvPr/>
        </p:nvGrpSpPr>
        <p:grpSpPr>
          <a:xfrm>
            <a:off x="845164" y="5430487"/>
            <a:ext cx="6150057" cy="1594675"/>
            <a:chOff x="0" y="0"/>
            <a:chExt cx="6150056" cy="1594674"/>
          </a:xfrm>
        </p:grpSpPr>
        <p:sp>
          <p:nvSpPr>
            <p:cNvPr id="127" name="Text 5"/>
            <p:cNvSpPr txBox="1"/>
            <p:nvPr/>
          </p:nvSpPr>
          <p:spPr>
            <a:xfrm>
              <a:off x="0" y="-1"/>
              <a:ext cx="6150057" cy="7641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3100"/>
                </a:lnSpc>
                <a:defRPr sz="1900">
                  <a:solidFill>
                    <a:srgbClr val="D7D4CC"/>
                  </a:solidFill>
                  <a:latin typeface="Raleway Medium"/>
                  <a:ea typeface="Raleway Medium"/>
                  <a:cs typeface="Raleway Medium"/>
                  <a:sym typeface="Raleway Medium"/>
                </a:defRPr>
              </a:pPr>
              <a:r>
                <a:t>Rather than diving into complex implementations, we divided my project into </a:t>
              </a:r>
              <a:r>
                <a:rPr i="1"/>
                <a:t>three distinct phases.</a:t>
              </a:r>
            </a:p>
          </p:txBody>
        </p:sp>
        <p:sp>
          <p:nvSpPr>
            <p:cNvPr id="128" name="Text 6"/>
            <p:cNvSpPr txBox="1"/>
            <p:nvPr/>
          </p:nvSpPr>
          <p:spPr>
            <a:xfrm>
              <a:off x="0" y="830520"/>
              <a:ext cx="6150057" cy="764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3100"/>
                </a:lnSpc>
                <a:defRPr sz="1900">
                  <a:solidFill>
                    <a:srgbClr val="D7D4CC"/>
                  </a:solidFill>
                  <a:latin typeface="Raleway Medium"/>
                  <a:ea typeface="Raleway Medium"/>
                  <a:cs typeface="Raleway Medium"/>
                  <a:sym typeface="Raleway Medium"/>
                </a:defRPr>
              </a:lvl1pPr>
            </a:lstStyle>
            <a:p>
              <a:pPr/>
              <a:r>
                <a:t>This phased approach helped us learn progressively whilst building confidence with each milestone.</a:t>
              </a: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1"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sp>
        <p:nvSpPr>
          <p:cNvPr id="132" name="Text 0"/>
          <p:cNvSpPr txBox="1"/>
          <p:nvPr/>
        </p:nvSpPr>
        <p:spPr>
          <a:xfrm>
            <a:off x="6350437" y="1720094"/>
            <a:ext cx="7415929" cy="28037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7400"/>
              </a:lnSpc>
              <a:defRPr b="1" sz="5900">
                <a:solidFill>
                  <a:srgbClr val="FFE14D"/>
                </a:solidFill>
                <a:latin typeface="Comfortaa Bold"/>
                <a:ea typeface="Comfortaa Bold"/>
                <a:cs typeface="Comfortaa Bold"/>
                <a:sym typeface="Comfortaa Bold"/>
              </a:defRPr>
            </a:lvl1pPr>
          </a:lstStyle>
          <a:p>
            <a:pPr/>
            <a:r>
              <a:t>Phase 1: Understanding the Basics</a:t>
            </a:r>
          </a:p>
        </p:txBody>
      </p:sp>
      <p:sp>
        <p:nvSpPr>
          <p:cNvPr id="133" name="Text 1"/>
          <p:cNvSpPr txBox="1"/>
          <p:nvPr/>
        </p:nvSpPr>
        <p:spPr>
          <a:xfrm>
            <a:off x="6350437" y="4929306"/>
            <a:ext cx="7415929" cy="11578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Before tackling massive datasets like Google Shopping, we needed to understand fundamentals. We started small—creating and working with a custom CSV file that we could fully control and comprehend.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ext 0"/>
          <p:cNvSpPr txBox="1"/>
          <p:nvPr/>
        </p:nvSpPr>
        <p:spPr>
          <a:xfrm>
            <a:off x="864035" y="1447322"/>
            <a:ext cx="6898098" cy="53618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3400">
                <a:solidFill>
                  <a:srgbClr val="FFE14D"/>
                </a:solidFill>
                <a:latin typeface="Comfortaa Bold"/>
                <a:ea typeface="Comfortaa Bold"/>
                <a:cs typeface="Comfortaa Bold"/>
                <a:sym typeface="Comfortaa Bold"/>
              </a:defRPr>
            </a:lvl1pPr>
          </a:lstStyle>
          <a:p>
            <a:pPr/>
            <a:r>
              <a:t>Learning by Doing with CSV Files</a:t>
            </a:r>
          </a:p>
        </p:txBody>
      </p:sp>
      <p:sp>
        <p:nvSpPr>
          <p:cNvPr id="136" name="Text 1"/>
          <p:cNvSpPr txBox="1"/>
          <p:nvPr/>
        </p:nvSpPr>
        <p:spPr>
          <a:xfrm>
            <a:off x="864036" y="2489597"/>
            <a:ext cx="281100" cy="370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1900">
                <a:solidFill>
                  <a:srgbClr val="D7D4CC"/>
                </a:solidFill>
                <a:latin typeface="Comfortaa Light"/>
                <a:ea typeface="Comfortaa Light"/>
                <a:cs typeface="Comfortaa Light"/>
                <a:sym typeface="Comfortaa Light"/>
              </a:defRPr>
            </a:lvl1pPr>
          </a:lstStyle>
          <a:p>
            <a:pPr/>
            <a:r>
              <a:t>01</a:t>
            </a:r>
          </a:p>
        </p:txBody>
      </p:sp>
      <p:sp>
        <p:nvSpPr>
          <p:cNvPr id="137" name="Shape 2"/>
          <p:cNvSpPr/>
          <p:nvPr/>
        </p:nvSpPr>
        <p:spPr>
          <a:xfrm>
            <a:off x="864036" y="2878693"/>
            <a:ext cx="4136233" cy="30482"/>
          </a:xfrm>
          <a:prstGeom prst="rect">
            <a:avLst/>
          </a:prstGeom>
          <a:solidFill>
            <a:srgbClr val="FFE14D"/>
          </a:solidFill>
          <a:ln w="12700">
            <a:miter lim="400000"/>
          </a:ln>
        </p:spPr>
        <p:txBody>
          <a:bodyPr lIns="45718" tIns="45718" rIns="45718" bIns="45718"/>
          <a:lstStyle/>
          <a:p>
            <a:pPr>
              <a:defRPr>
                <a:latin typeface="+mn-lt"/>
                <a:ea typeface="+mn-ea"/>
                <a:cs typeface="+mn-cs"/>
                <a:sym typeface="Calibri"/>
              </a:defRPr>
            </a:pPr>
          </a:p>
        </p:txBody>
      </p:sp>
      <p:sp>
        <p:nvSpPr>
          <p:cNvPr id="138" name="Text 3"/>
          <p:cNvSpPr txBox="1"/>
          <p:nvPr/>
        </p:nvSpPr>
        <p:spPr>
          <a:xfrm>
            <a:off x="864036" y="3063001"/>
            <a:ext cx="2131846"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Data Exploration</a:t>
            </a:r>
          </a:p>
        </p:txBody>
      </p:sp>
      <p:sp>
        <p:nvSpPr>
          <p:cNvPr id="139" name="Text 4"/>
          <p:cNvSpPr txBox="1"/>
          <p:nvPr/>
        </p:nvSpPr>
        <p:spPr>
          <a:xfrm>
            <a:off x="864036" y="3554015"/>
            <a:ext cx="4136233" cy="27355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100"/>
              </a:lnSpc>
              <a:defRPr sz="1900">
                <a:solidFill>
                  <a:srgbClr val="D7D4CC"/>
                </a:solidFill>
                <a:latin typeface="Raleway Medium"/>
                <a:ea typeface="Raleway Medium"/>
                <a:cs typeface="Raleway Medium"/>
                <a:sym typeface="Raleway Medium"/>
              </a:defRPr>
            </a:pPr>
            <a:r>
              <a:t>We discovered Python libraries like Pandas that made data manipulation surprisingly accessible.</a:t>
            </a:r>
          </a:p>
          <a:p>
            <a:pPr>
              <a:lnSpc>
                <a:spcPts val="3100"/>
              </a:lnSpc>
              <a:defRPr sz="1900">
                <a:solidFill>
                  <a:srgbClr val="D7D4CC"/>
                </a:solidFill>
                <a:latin typeface="Raleway Medium"/>
                <a:ea typeface="Raleway Medium"/>
                <a:cs typeface="Raleway Medium"/>
                <a:sym typeface="Raleway Medium"/>
              </a:defRPr>
            </a:pPr>
          </a:p>
          <a:p>
            <a:pPr>
              <a:lnSpc>
                <a:spcPts val="3100"/>
              </a:lnSpc>
              <a:defRPr b="1" i="1" sz="2000">
                <a:solidFill>
                  <a:srgbClr val="D7D4CC"/>
                </a:solidFill>
                <a:latin typeface="Raleway Medium"/>
                <a:ea typeface="Raleway Medium"/>
                <a:cs typeface="Raleway Medium"/>
                <a:sym typeface="Raleway Medium"/>
              </a:defRPr>
            </a:pPr>
            <a:r>
              <a:t>ChatGPT became our coding mentor, explaining concepts as we experimented.</a:t>
            </a:r>
          </a:p>
        </p:txBody>
      </p:sp>
      <p:sp>
        <p:nvSpPr>
          <p:cNvPr id="140" name="Text 5"/>
          <p:cNvSpPr txBox="1"/>
          <p:nvPr/>
        </p:nvSpPr>
        <p:spPr>
          <a:xfrm>
            <a:off x="5247082" y="2489597"/>
            <a:ext cx="281100" cy="370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1900">
                <a:solidFill>
                  <a:srgbClr val="D7D4CC"/>
                </a:solidFill>
                <a:latin typeface="Comfortaa Light"/>
                <a:ea typeface="Comfortaa Light"/>
                <a:cs typeface="Comfortaa Light"/>
                <a:sym typeface="Comfortaa Light"/>
              </a:defRPr>
            </a:lvl1pPr>
          </a:lstStyle>
          <a:p>
            <a:pPr/>
            <a:r>
              <a:t>02</a:t>
            </a:r>
          </a:p>
        </p:txBody>
      </p:sp>
      <p:sp>
        <p:nvSpPr>
          <p:cNvPr id="141" name="Shape 6"/>
          <p:cNvSpPr/>
          <p:nvPr/>
        </p:nvSpPr>
        <p:spPr>
          <a:xfrm>
            <a:off x="5247082" y="2878693"/>
            <a:ext cx="4136233" cy="30482"/>
          </a:xfrm>
          <a:prstGeom prst="rect">
            <a:avLst/>
          </a:prstGeom>
          <a:solidFill>
            <a:srgbClr val="FFE14D"/>
          </a:solidFill>
          <a:ln w="12700">
            <a:miter lim="400000"/>
          </a:ln>
        </p:spPr>
        <p:txBody>
          <a:bodyPr lIns="45718" tIns="45718" rIns="45718" bIns="45718"/>
          <a:lstStyle/>
          <a:p>
            <a:pPr>
              <a:defRPr>
                <a:latin typeface="+mn-lt"/>
                <a:ea typeface="+mn-ea"/>
                <a:cs typeface="+mn-cs"/>
                <a:sym typeface="Calibri"/>
              </a:defRPr>
            </a:pPr>
          </a:p>
        </p:txBody>
      </p:sp>
      <p:sp>
        <p:nvSpPr>
          <p:cNvPr id="142" name="Text 7"/>
          <p:cNvSpPr txBox="1"/>
          <p:nvPr/>
        </p:nvSpPr>
        <p:spPr>
          <a:xfrm>
            <a:off x="5247082" y="3063001"/>
            <a:ext cx="1791049"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Data Cleaning</a:t>
            </a:r>
          </a:p>
        </p:txBody>
      </p:sp>
      <p:sp>
        <p:nvSpPr>
          <p:cNvPr id="143" name="Text 8"/>
          <p:cNvSpPr txBox="1"/>
          <p:nvPr/>
        </p:nvSpPr>
        <p:spPr>
          <a:xfrm>
            <a:off x="5247082" y="3554016"/>
            <a:ext cx="4136233" cy="19452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We learnt to filter entries, convert text to lowercase, and remove unnecessary characters like commas, periods, and brackets that cluttered our data.</a:t>
            </a:r>
          </a:p>
        </p:txBody>
      </p:sp>
      <p:sp>
        <p:nvSpPr>
          <p:cNvPr id="144" name="Text 9"/>
          <p:cNvSpPr txBox="1"/>
          <p:nvPr/>
        </p:nvSpPr>
        <p:spPr>
          <a:xfrm>
            <a:off x="9630132" y="2489597"/>
            <a:ext cx="281100" cy="370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1900">
                <a:solidFill>
                  <a:srgbClr val="D7D4CC"/>
                </a:solidFill>
                <a:latin typeface="Comfortaa Light"/>
                <a:ea typeface="Comfortaa Light"/>
                <a:cs typeface="Comfortaa Light"/>
                <a:sym typeface="Comfortaa Light"/>
              </a:defRPr>
            </a:lvl1pPr>
          </a:lstStyle>
          <a:p>
            <a:pPr/>
            <a:r>
              <a:t>03</a:t>
            </a:r>
          </a:p>
        </p:txBody>
      </p:sp>
      <p:sp>
        <p:nvSpPr>
          <p:cNvPr id="145" name="Shape 10"/>
          <p:cNvSpPr/>
          <p:nvPr/>
        </p:nvSpPr>
        <p:spPr>
          <a:xfrm>
            <a:off x="9630132" y="2878693"/>
            <a:ext cx="4136231" cy="30482"/>
          </a:xfrm>
          <a:prstGeom prst="rect">
            <a:avLst/>
          </a:prstGeom>
          <a:solidFill>
            <a:srgbClr val="FFE14D"/>
          </a:solidFill>
          <a:ln w="12700">
            <a:miter lim="400000"/>
          </a:ln>
        </p:spPr>
        <p:txBody>
          <a:bodyPr lIns="45718" tIns="45718" rIns="45718" bIns="45718"/>
          <a:lstStyle/>
          <a:p>
            <a:pPr>
              <a:defRPr>
                <a:latin typeface="+mn-lt"/>
                <a:ea typeface="+mn-ea"/>
                <a:cs typeface="+mn-cs"/>
                <a:sym typeface="Calibri"/>
              </a:defRPr>
            </a:pPr>
          </a:p>
        </p:txBody>
      </p:sp>
      <p:sp>
        <p:nvSpPr>
          <p:cNvPr id="146" name="Text 11"/>
          <p:cNvSpPr txBox="1"/>
          <p:nvPr/>
        </p:nvSpPr>
        <p:spPr>
          <a:xfrm>
            <a:off x="9630132" y="3063001"/>
            <a:ext cx="2309733"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Data Organisation</a:t>
            </a:r>
          </a:p>
        </p:txBody>
      </p:sp>
      <p:sp>
        <p:nvSpPr>
          <p:cNvPr id="147" name="Text 12"/>
          <p:cNvSpPr txBox="1"/>
          <p:nvPr/>
        </p:nvSpPr>
        <p:spPr>
          <a:xfrm>
            <a:off x="9630132" y="3554016"/>
            <a:ext cx="4136231" cy="15515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Our code grouped similar product names together, extracting key information like product names, prices, and seller details into organised lists.</a:t>
            </a:r>
          </a:p>
        </p:txBody>
      </p:sp>
      <p:sp>
        <p:nvSpPr>
          <p:cNvPr id="148" name="Text 13"/>
          <p:cNvSpPr txBox="1"/>
          <p:nvPr/>
        </p:nvSpPr>
        <p:spPr>
          <a:xfrm>
            <a:off x="852641" y="6945361"/>
            <a:ext cx="7712504" cy="370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Each step taught us something new about how data flows through code.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ext 0"/>
          <p:cNvSpPr txBox="1"/>
          <p:nvPr/>
        </p:nvSpPr>
        <p:spPr>
          <a:xfrm>
            <a:off x="848318" y="668059"/>
            <a:ext cx="6424581" cy="10565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8">
              <a:lnSpc>
                <a:spcPts val="4200"/>
              </a:lnSpc>
              <a:defRPr b="1" sz="3300">
                <a:solidFill>
                  <a:srgbClr val="FFE14D"/>
                </a:solidFill>
                <a:latin typeface="Comfortaa Bold"/>
                <a:ea typeface="Comfortaa Bold"/>
                <a:cs typeface="Comfortaa Bold"/>
                <a:sym typeface="Comfortaa Bold"/>
              </a:defRPr>
            </a:pPr>
            <a:r>
              <a:t>Phase 2: Connecting to the Real World</a:t>
            </a:r>
          </a:p>
        </p:txBody>
      </p:sp>
      <p:sp>
        <p:nvSpPr>
          <p:cNvPr id="151" name="Text 1"/>
          <p:cNvSpPr txBox="1"/>
          <p:nvPr/>
        </p:nvSpPr>
        <p:spPr>
          <a:xfrm>
            <a:off x="848320" y="2326718"/>
            <a:ext cx="8319221" cy="18842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sz="1900">
                <a:solidFill>
                  <a:srgbClr val="D7D4CC"/>
                </a:solidFill>
                <a:latin typeface="Raleway Medium"/>
                <a:ea typeface="Raleway Medium"/>
                <a:cs typeface="Raleway Medium"/>
                <a:sym typeface="Raleway Medium"/>
              </a:defRPr>
            </a:lvl1pPr>
          </a:lstStyle>
          <a:p>
            <a:pPr/>
            <a:r>
              <a:t>With CSV basics mastered, we faced our biggest challenge: bringing live internet data into our programme. This was the original goal, and it felt both exciting and daunting. Initial research introduced us to web scraping libraries like BeautifulSoup, which opened up possibilities for extracting data directly from websites.</a:t>
            </a:r>
          </a:p>
        </p:txBody>
      </p:sp>
      <p:sp>
        <p:nvSpPr>
          <p:cNvPr id="152" name="Shape 3"/>
          <p:cNvSpPr/>
          <p:nvPr/>
        </p:nvSpPr>
        <p:spPr>
          <a:xfrm>
            <a:off x="10248193" y="1660980"/>
            <a:ext cx="2624140" cy="4907640"/>
          </a:xfrm>
          <a:prstGeom prst="roundRect">
            <a:avLst>
              <a:gd name="adj" fmla="val 13856"/>
            </a:avLst>
          </a:prstGeom>
          <a:solidFill>
            <a:srgbClr val="4D4000"/>
          </a:solidFill>
          <a:ln w="12700">
            <a:miter lim="400000"/>
          </a:ln>
        </p:spPr>
        <p:txBody>
          <a:bodyPr lIns="45718" tIns="45718" rIns="45718" bIns="45718"/>
          <a:lstStyle/>
          <a:p>
            <a:pPr>
              <a:defRPr>
                <a:latin typeface="+mn-lt"/>
                <a:ea typeface="+mn-ea"/>
                <a:cs typeface="+mn-cs"/>
                <a:sym typeface="Calibri"/>
              </a:defRPr>
            </a:pPr>
          </a:p>
        </p:txBody>
      </p:sp>
      <p:sp>
        <p:nvSpPr>
          <p:cNvPr id="153" name="Text 4"/>
          <p:cNvSpPr txBox="1"/>
          <p:nvPr/>
        </p:nvSpPr>
        <p:spPr>
          <a:xfrm>
            <a:off x="10763080" y="2029652"/>
            <a:ext cx="1594368" cy="41702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000"/>
              </a:lnSpc>
              <a:defRPr b="1" sz="1900">
                <a:solidFill>
                  <a:srgbClr val="FFFFFF"/>
                </a:solidFill>
                <a:latin typeface="Raleway Medium"/>
                <a:ea typeface="Raleway Medium"/>
                <a:cs typeface="Raleway Medium"/>
                <a:sym typeface="Raleway Medium"/>
              </a:defRPr>
            </a:pPr>
            <a:r>
              <a:t>Learning Moment: </a:t>
            </a:r>
          </a:p>
          <a:p>
            <a:pPr>
              <a:lnSpc>
                <a:spcPts val="3000"/>
              </a:lnSpc>
              <a:defRPr b="1" sz="1900">
                <a:solidFill>
                  <a:srgbClr val="FFFFFF"/>
                </a:solidFill>
                <a:latin typeface="Raleway Medium"/>
                <a:ea typeface="Raleway Medium"/>
                <a:cs typeface="Raleway Medium"/>
                <a:sym typeface="Raleway Medium"/>
              </a:defRPr>
            </a:pPr>
            <a:r>
              <a:rPr b="0"/>
              <a:t>We discovered that scraping data legally and ethically required understanding APIs and terms of service.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ext 0"/>
          <p:cNvSpPr txBox="1"/>
          <p:nvPr/>
        </p:nvSpPr>
        <p:spPr>
          <a:xfrm>
            <a:off x="864036" y="1688187"/>
            <a:ext cx="4259858" cy="53618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3400">
                <a:solidFill>
                  <a:srgbClr val="FFE14D"/>
                </a:solidFill>
                <a:latin typeface="Comfortaa Bold"/>
                <a:ea typeface="Comfortaa Bold"/>
                <a:cs typeface="Comfortaa Bold"/>
                <a:sym typeface="Comfortaa Bold"/>
              </a:defRPr>
            </a:lvl1pPr>
          </a:lstStyle>
          <a:p>
            <a:pPr/>
            <a:r>
              <a:t>Discovering SerpApi</a:t>
            </a:r>
          </a:p>
        </p:txBody>
      </p:sp>
      <p:sp>
        <p:nvSpPr>
          <p:cNvPr id="156" name="Shape 1"/>
          <p:cNvSpPr/>
          <p:nvPr/>
        </p:nvSpPr>
        <p:spPr>
          <a:xfrm>
            <a:off x="864036" y="2730460"/>
            <a:ext cx="4136233" cy="3810954"/>
          </a:xfrm>
          <a:prstGeom prst="roundRect">
            <a:avLst>
              <a:gd name="adj" fmla="val 3839"/>
            </a:avLst>
          </a:prstGeom>
          <a:solidFill>
            <a:srgbClr val="27272B"/>
          </a:solidFill>
          <a:ln w="30480">
            <a:solidFill>
              <a:srgbClr val="5F5F63"/>
            </a:solidFill>
          </a:ln>
        </p:spPr>
        <p:txBody>
          <a:bodyPr lIns="45718" tIns="45718" rIns="45718" bIns="45718"/>
          <a:lstStyle/>
          <a:p>
            <a:pPr>
              <a:defRPr>
                <a:latin typeface="+mn-lt"/>
                <a:ea typeface="+mn-ea"/>
                <a:cs typeface="+mn-cs"/>
                <a:sym typeface="Calibri"/>
              </a:defRPr>
            </a:pPr>
          </a:p>
        </p:txBody>
      </p:sp>
      <p:sp>
        <p:nvSpPr>
          <p:cNvPr id="157" name="Shape 2"/>
          <p:cNvSpPr/>
          <p:nvPr/>
        </p:nvSpPr>
        <p:spPr>
          <a:xfrm>
            <a:off x="833556" y="2730460"/>
            <a:ext cx="121921" cy="3810954"/>
          </a:xfrm>
          <a:prstGeom prst="roundRect">
            <a:avLst>
              <a:gd name="adj" fmla="val 50000"/>
            </a:avLst>
          </a:prstGeom>
          <a:solidFill>
            <a:srgbClr val="FFE14D"/>
          </a:solidFill>
          <a:ln w="12700">
            <a:miter lim="400000"/>
          </a:ln>
        </p:spPr>
        <p:txBody>
          <a:bodyPr lIns="45718" tIns="45718" rIns="45718" bIns="45718"/>
          <a:lstStyle/>
          <a:p>
            <a:pPr>
              <a:defRPr>
                <a:latin typeface="+mn-lt"/>
                <a:ea typeface="+mn-ea"/>
                <a:cs typeface="+mn-cs"/>
                <a:sym typeface="Calibri"/>
              </a:defRPr>
            </a:pPr>
          </a:p>
        </p:txBody>
      </p:sp>
      <p:sp>
        <p:nvSpPr>
          <p:cNvPr id="158" name="Text 3"/>
          <p:cNvSpPr txBox="1"/>
          <p:nvPr/>
        </p:nvSpPr>
        <p:spPr>
          <a:xfrm>
            <a:off x="1232772" y="3007755"/>
            <a:ext cx="1835455"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The Challenge</a:t>
            </a:r>
          </a:p>
        </p:txBody>
      </p:sp>
      <p:sp>
        <p:nvSpPr>
          <p:cNvPr id="159" name="Text 4"/>
          <p:cNvSpPr txBox="1"/>
          <p:nvPr/>
        </p:nvSpPr>
        <p:spPr>
          <a:xfrm>
            <a:off x="1232772" y="3498770"/>
            <a:ext cx="3490199" cy="23389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Directly scraping Google Shopping raised legal concerns. We needed a legitimate way to access product listings whilst respecting Google's policies and infrastructure.</a:t>
            </a:r>
          </a:p>
        </p:txBody>
      </p:sp>
      <p:sp>
        <p:nvSpPr>
          <p:cNvPr id="160" name="Shape 5"/>
          <p:cNvSpPr/>
          <p:nvPr/>
        </p:nvSpPr>
        <p:spPr>
          <a:xfrm>
            <a:off x="5247082" y="2730460"/>
            <a:ext cx="4136233" cy="3810954"/>
          </a:xfrm>
          <a:prstGeom prst="roundRect">
            <a:avLst>
              <a:gd name="adj" fmla="val 3839"/>
            </a:avLst>
          </a:prstGeom>
          <a:solidFill>
            <a:srgbClr val="27272B"/>
          </a:solidFill>
          <a:ln w="30480">
            <a:solidFill>
              <a:srgbClr val="5F5F63"/>
            </a:solidFill>
          </a:ln>
        </p:spPr>
        <p:txBody>
          <a:bodyPr lIns="45718" tIns="45718" rIns="45718" bIns="45718"/>
          <a:lstStyle/>
          <a:p>
            <a:pPr>
              <a:defRPr>
                <a:latin typeface="+mn-lt"/>
                <a:ea typeface="+mn-ea"/>
                <a:cs typeface="+mn-cs"/>
                <a:sym typeface="Calibri"/>
              </a:defRPr>
            </a:pPr>
          </a:p>
        </p:txBody>
      </p:sp>
      <p:sp>
        <p:nvSpPr>
          <p:cNvPr id="161" name="Shape 6"/>
          <p:cNvSpPr/>
          <p:nvPr/>
        </p:nvSpPr>
        <p:spPr>
          <a:xfrm>
            <a:off x="5216604" y="2730460"/>
            <a:ext cx="121922" cy="3810954"/>
          </a:xfrm>
          <a:prstGeom prst="roundRect">
            <a:avLst>
              <a:gd name="adj" fmla="val 50000"/>
            </a:avLst>
          </a:prstGeom>
          <a:solidFill>
            <a:srgbClr val="FFE14D"/>
          </a:solidFill>
          <a:ln w="12700">
            <a:miter lim="400000"/>
          </a:ln>
        </p:spPr>
        <p:txBody>
          <a:bodyPr lIns="45718" tIns="45718" rIns="45718" bIns="45718"/>
          <a:lstStyle/>
          <a:p>
            <a:pPr>
              <a:defRPr>
                <a:latin typeface="+mn-lt"/>
                <a:ea typeface="+mn-ea"/>
                <a:cs typeface="+mn-cs"/>
                <a:sym typeface="Calibri"/>
              </a:defRPr>
            </a:pPr>
          </a:p>
        </p:txBody>
      </p:sp>
      <p:sp>
        <p:nvSpPr>
          <p:cNvPr id="162" name="Text 7"/>
          <p:cNvSpPr txBox="1"/>
          <p:nvPr/>
        </p:nvSpPr>
        <p:spPr>
          <a:xfrm>
            <a:off x="5615821" y="3007755"/>
            <a:ext cx="1627486"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The Solution</a:t>
            </a:r>
          </a:p>
        </p:txBody>
      </p:sp>
      <p:sp>
        <p:nvSpPr>
          <p:cNvPr id="163" name="Text 8"/>
          <p:cNvSpPr txBox="1"/>
          <p:nvPr/>
        </p:nvSpPr>
        <p:spPr>
          <a:xfrm>
            <a:off x="5615821" y="3498770"/>
            <a:ext cx="3490198" cy="27326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SerpApi became our bridge to Google's data. This service legally provides structured access to search engine results, including Google Shopping listings, through a clean API interface.</a:t>
            </a:r>
          </a:p>
        </p:txBody>
      </p:sp>
      <p:sp>
        <p:nvSpPr>
          <p:cNvPr id="164" name="Shape 9"/>
          <p:cNvSpPr/>
          <p:nvPr/>
        </p:nvSpPr>
        <p:spPr>
          <a:xfrm>
            <a:off x="9630132" y="2730460"/>
            <a:ext cx="4136233" cy="3810954"/>
          </a:xfrm>
          <a:prstGeom prst="roundRect">
            <a:avLst>
              <a:gd name="adj" fmla="val 3839"/>
            </a:avLst>
          </a:prstGeom>
          <a:solidFill>
            <a:srgbClr val="27272B"/>
          </a:solidFill>
          <a:ln w="30480">
            <a:solidFill>
              <a:srgbClr val="5F5F63"/>
            </a:solidFill>
          </a:ln>
        </p:spPr>
        <p:txBody>
          <a:bodyPr lIns="45718" tIns="45718" rIns="45718" bIns="45718"/>
          <a:lstStyle/>
          <a:p>
            <a:pPr>
              <a:defRPr>
                <a:latin typeface="+mn-lt"/>
                <a:ea typeface="+mn-ea"/>
                <a:cs typeface="+mn-cs"/>
                <a:sym typeface="Calibri"/>
              </a:defRPr>
            </a:pPr>
          </a:p>
        </p:txBody>
      </p:sp>
      <p:sp>
        <p:nvSpPr>
          <p:cNvPr id="165" name="Shape 10"/>
          <p:cNvSpPr/>
          <p:nvPr/>
        </p:nvSpPr>
        <p:spPr>
          <a:xfrm>
            <a:off x="9599652" y="2730460"/>
            <a:ext cx="121922" cy="3810954"/>
          </a:xfrm>
          <a:prstGeom prst="roundRect">
            <a:avLst>
              <a:gd name="adj" fmla="val 50000"/>
            </a:avLst>
          </a:prstGeom>
          <a:solidFill>
            <a:srgbClr val="FFE14D"/>
          </a:solidFill>
          <a:ln w="12700">
            <a:miter lim="400000"/>
          </a:ln>
        </p:spPr>
        <p:txBody>
          <a:bodyPr lIns="45718" tIns="45718" rIns="45718" bIns="45718"/>
          <a:lstStyle/>
          <a:p>
            <a:pPr>
              <a:defRPr>
                <a:latin typeface="+mn-lt"/>
                <a:ea typeface="+mn-ea"/>
                <a:cs typeface="+mn-cs"/>
                <a:sym typeface="Calibri"/>
              </a:defRPr>
            </a:pPr>
          </a:p>
        </p:txBody>
      </p:sp>
      <p:sp>
        <p:nvSpPr>
          <p:cNvPr id="166" name="Text 11"/>
          <p:cNvSpPr txBox="1"/>
          <p:nvPr/>
        </p:nvSpPr>
        <p:spPr>
          <a:xfrm>
            <a:off x="9998867" y="3007755"/>
            <a:ext cx="2531766"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The Implementation</a:t>
            </a:r>
          </a:p>
        </p:txBody>
      </p:sp>
      <p:sp>
        <p:nvSpPr>
          <p:cNvPr id="167" name="Text 12"/>
          <p:cNvSpPr txBox="1"/>
          <p:nvPr/>
        </p:nvSpPr>
        <p:spPr>
          <a:xfrm>
            <a:off x="9998867" y="3498770"/>
            <a:ext cx="3490198" cy="23389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Instead of parsing raw HTML, SerpApi delivered organised JSON data containing product names, prices, sellers, and ratings—exactly what our comparison tool needed.</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Text 0"/>
          <p:cNvSpPr txBox="1"/>
          <p:nvPr/>
        </p:nvSpPr>
        <p:spPr>
          <a:xfrm>
            <a:off x="864035" y="1816060"/>
            <a:ext cx="11503553" cy="92416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7400"/>
              </a:lnSpc>
              <a:defRPr b="1" sz="5900">
                <a:solidFill>
                  <a:srgbClr val="FFE14D"/>
                </a:solidFill>
                <a:latin typeface="Comfortaa Bold"/>
                <a:ea typeface="Comfortaa Bold"/>
                <a:cs typeface="Comfortaa Bold"/>
                <a:sym typeface="Comfortaa Bold"/>
              </a:defRPr>
            </a:lvl1pPr>
          </a:lstStyle>
          <a:p>
            <a:pPr/>
            <a:r>
              <a:t>Phase 3: Polishing &amp; Integration</a:t>
            </a:r>
          </a:p>
        </p:txBody>
      </p:sp>
      <p:pic>
        <p:nvPicPr>
          <p:cNvPr id="170" name="Image 0" descr="Image 0"/>
          <p:cNvPicPr>
            <a:picLocks noChangeAspect="1"/>
          </p:cNvPicPr>
          <p:nvPr/>
        </p:nvPicPr>
        <p:blipFill>
          <a:blip r:embed="rId2">
            <a:extLst/>
          </a:blip>
          <a:stretch>
            <a:fillRect/>
          </a:stretch>
        </p:blipFill>
        <p:spPr>
          <a:xfrm>
            <a:off x="864036" y="3256121"/>
            <a:ext cx="4300778" cy="987504"/>
          </a:xfrm>
          <a:prstGeom prst="rect">
            <a:avLst/>
          </a:prstGeom>
          <a:ln w="12700">
            <a:miter lim="400000"/>
          </a:ln>
        </p:spPr>
      </p:pic>
      <p:sp>
        <p:nvSpPr>
          <p:cNvPr id="171" name="Text 1"/>
          <p:cNvSpPr txBox="1"/>
          <p:nvPr/>
        </p:nvSpPr>
        <p:spPr>
          <a:xfrm>
            <a:off x="1110853" y="4490442"/>
            <a:ext cx="1924137"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File Integration</a:t>
            </a:r>
          </a:p>
        </p:txBody>
      </p:sp>
      <p:sp>
        <p:nvSpPr>
          <p:cNvPr id="172" name="Text 2"/>
          <p:cNvSpPr txBox="1"/>
          <p:nvPr/>
        </p:nvSpPr>
        <p:spPr>
          <a:xfrm>
            <a:off x="1110853" y="4981456"/>
            <a:ext cx="3807143" cy="11578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Connected our sorting algorithms with the scraping module for seamless data flow.</a:t>
            </a:r>
          </a:p>
        </p:txBody>
      </p:sp>
      <p:pic>
        <p:nvPicPr>
          <p:cNvPr id="173" name="Image 1" descr="Image 1"/>
          <p:cNvPicPr>
            <a:picLocks noChangeAspect="1"/>
          </p:cNvPicPr>
          <p:nvPr/>
        </p:nvPicPr>
        <p:blipFill>
          <a:blip r:embed="rId3">
            <a:extLst/>
          </a:blip>
          <a:stretch>
            <a:fillRect/>
          </a:stretch>
        </p:blipFill>
        <p:spPr>
          <a:xfrm>
            <a:off x="5164811" y="3256121"/>
            <a:ext cx="4300778" cy="987504"/>
          </a:xfrm>
          <a:prstGeom prst="rect">
            <a:avLst/>
          </a:prstGeom>
          <a:ln w="12700">
            <a:miter lim="400000"/>
          </a:ln>
        </p:spPr>
      </p:pic>
      <p:sp>
        <p:nvSpPr>
          <p:cNvPr id="174" name="Text 3"/>
          <p:cNvSpPr txBox="1"/>
          <p:nvPr/>
        </p:nvSpPr>
        <p:spPr>
          <a:xfrm>
            <a:off x="5411627" y="4490442"/>
            <a:ext cx="1331486"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User Input</a:t>
            </a:r>
          </a:p>
        </p:txBody>
      </p:sp>
      <p:sp>
        <p:nvSpPr>
          <p:cNvPr id="175" name="Text 4"/>
          <p:cNvSpPr txBox="1"/>
          <p:nvPr/>
        </p:nvSpPr>
        <p:spPr>
          <a:xfrm>
            <a:off x="5411627" y="4981456"/>
            <a:ext cx="3807145" cy="11578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Implemented custom search functionality so users could query any product they wanted.</a:t>
            </a:r>
          </a:p>
        </p:txBody>
      </p:sp>
      <p:pic>
        <p:nvPicPr>
          <p:cNvPr id="176" name="Image 2" descr="Image 2"/>
          <p:cNvPicPr>
            <a:picLocks noChangeAspect="1"/>
          </p:cNvPicPr>
          <p:nvPr/>
        </p:nvPicPr>
        <p:blipFill>
          <a:blip r:embed="rId4">
            <a:extLst/>
          </a:blip>
          <a:stretch>
            <a:fillRect/>
          </a:stretch>
        </p:blipFill>
        <p:spPr>
          <a:xfrm>
            <a:off x="9465588" y="3256121"/>
            <a:ext cx="4300776" cy="987504"/>
          </a:xfrm>
          <a:prstGeom prst="rect">
            <a:avLst/>
          </a:prstGeom>
          <a:ln w="12700">
            <a:miter lim="400000"/>
          </a:ln>
        </p:spPr>
      </p:pic>
      <p:sp>
        <p:nvSpPr>
          <p:cNvPr id="177" name="Text 5"/>
          <p:cNvSpPr txBox="1"/>
          <p:nvPr/>
        </p:nvSpPr>
        <p:spPr>
          <a:xfrm>
            <a:off x="9712404" y="4490442"/>
            <a:ext cx="941332"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Testing</a:t>
            </a:r>
          </a:p>
        </p:txBody>
      </p:sp>
      <p:sp>
        <p:nvSpPr>
          <p:cNvPr id="178" name="Text 6"/>
          <p:cNvSpPr txBox="1"/>
          <p:nvPr/>
        </p:nvSpPr>
        <p:spPr>
          <a:xfrm>
            <a:off x="9712404" y="4981456"/>
            <a:ext cx="3807143" cy="764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Ran countless tests to identify bugs and improve reliability of results.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ext 0"/>
          <p:cNvSpPr txBox="1"/>
          <p:nvPr/>
        </p:nvSpPr>
        <p:spPr>
          <a:xfrm>
            <a:off x="4216672" y="326551"/>
            <a:ext cx="6197056" cy="53618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3400">
                <a:solidFill>
                  <a:srgbClr val="FFE14D"/>
                </a:solidFill>
                <a:latin typeface="Comfortaa Bold"/>
                <a:ea typeface="Comfortaa Bold"/>
                <a:cs typeface="Comfortaa Bold"/>
                <a:sym typeface="Comfortaa Bold"/>
              </a:defRPr>
            </a:lvl1pPr>
          </a:lstStyle>
          <a:p>
            <a:pPr/>
            <a:r>
              <a:t>Key Challenges We Overcame</a:t>
            </a:r>
          </a:p>
        </p:txBody>
      </p:sp>
      <p:grpSp>
        <p:nvGrpSpPr>
          <p:cNvPr id="184" name="Group"/>
          <p:cNvGrpSpPr/>
          <p:nvPr/>
        </p:nvGrpSpPr>
        <p:grpSpPr>
          <a:xfrm>
            <a:off x="3592993" y="1630429"/>
            <a:ext cx="3584499" cy="3302797"/>
            <a:chOff x="0" y="0"/>
            <a:chExt cx="3584497" cy="3302796"/>
          </a:xfrm>
        </p:grpSpPr>
        <p:sp>
          <p:nvSpPr>
            <p:cNvPr id="181" name="Shape 1"/>
            <p:cNvSpPr/>
            <p:nvPr/>
          </p:nvSpPr>
          <p:spPr>
            <a:xfrm>
              <a:off x="0" y="-1"/>
              <a:ext cx="3584498" cy="3302797"/>
            </a:xfrm>
            <a:prstGeom prst="roundRect">
              <a:avLst>
                <a:gd name="adj" fmla="val 11213"/>
              </a:avLst>
            </a:prstGeom>
            <a:solidFill>
              <a:srgbClr val="46464A"/>
            </a:solidFill>
            <a:ln w="12700" cap="flat">
              <a:noFill/>
              <a:miter lim="400000"/>
            </a:ln>
            <a:effectLst/>
          </p:spPr>
          <p:txBody>
            <a:bodyPr wrap="square" lIns="45718" tIns="45718" rIns="45718" bIns="45718" numCol="1" anchor="t">
              <a:noAutofit/>
            </a:bodyPr>
            <a:lstStyle/>
            <a:p>
              <a:pPr>
                <a:defRPr>
                  <a:latin typeface="+mn-lt"/>
                  <a:ea typeface="+mn-ea"/>
                  <a:cs typeface="+mn-cs"/>
                  <a:sym typeface="Calibri"/>
                </a:defRPr>
              </a:pPr>
            </a:p>
          </p:txBody>
        </p:sp>
        <p:sp>
          <p:nvSpPr>
            <p:cNvPr id="182" name="Text 2"/>
            <p:cNvSpPr txBox="1"/>
            <p:nvPr/>
          </p:nvSpPr>
          <p:spPr>
            <a:xfrm>
              <a:off x="246815" y="246816"/>
              <a:ext cx="2645979" cy="3636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p>
              <a:pPr>
                <a:lnSpc>
                  <a:spcPts val="2700"/>
                </a:lnSpc>
                <a:defRPr b="1" sz="2100">
                  <a:latin typeface="Comfortaa Bold"/>
                  <a:ea typeface="Comfortaa Bold"/>
                  <a:cs typeface="Comfortaa Bold"/>
                  <a:sym typeface="Comfortaa Bold"/>
                </a:defRPr>
              </a:pPr>
              <a:r>
                <a:t>🧩</a:t>
              </a:r>
              <a:r>
                <a:rPr>
                  <a:solidFill>
                    <a:srgbClr val="D7D4CC"/>
                  </a:solidFill>
                </a:rPr>
                <a:t> Debugging Errors</a:t>
              </a:r>
            </a:p>
          </p:txBody>
        </p:sp>
        <p:sp>
          <p:nvSpPr>
            <p:cNvPr id="183" name="Text 3"/>
            <p:cNvSpPr txBox="1"/>
            <p:nvPr/>
          </p:nvSpPr>
          <p:spPr>
            <a:xfrm>
              <a:off x="246815" y="737829"/>
              <a:ext cx="3090866" cy="15515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3100"/>
                </a:lnSpc>
                <a:defRPr sz="1900">
                  <a:solidFill>
                    <a:srgbClr val="D7D4CC"/>
                  </a:solidFill>
                  <a:latin typeface="Raleway Medium"/>
                  <a:ea typeface="Raleway Medium"/>
                  <a:cs typeface="Raleway Medium"/>
                  <a:sym typeface="Raleway Medium"/>
                </a:defRPr>
              </a:lvl1pPr>
            </a:lstStyle>
            <a:p>
              <a:pPr/>
              <a:r>
                <a:t>Learning to read error messages and troubleshoot issues that seemed impossible at first.</a:t>
              </a:r>
            </a:p>
          </p:txBody>
        </p:sp>
      </p:grpSp>
      <p:grpSp>
        <p:nvGrpSpPr>
          <p:cNvPr id="188" name="Group"/>
          <p:cNvGrpSpPr/>
          <p:nvPr/>
        </p:nvGrpSpPr>
        <p:grpSpPr>
          <a:xfrm>
            <a:off x="7401517" y="1630429"/>
            <a:ext cx="3584618" cy="3302797"/>
            <a:chOff x="0" y="0"/>
            <a:chExt cx="3584616" cy="3302796"/>
          </a:xfrm>
        </p:grpSpPr>
        <p:sp>
          <p:nvSpPr>
            <p:cNvPr id="185" name="Shape 4"/>
            <p:cNvSpPr/>
            <p:nvPr/>
          </p:nvSpPr>
          <p:spPr>
            <a:xfrm>
              <a:off x="0" y="-1"/>
              <a:ext cx="3584617" cy="3302797"/>
            </a:xfrm>
            <a:prstGeom prst="roundRect">
              <a:avLst>
                <a:gd name="adj" fmla="val 11213"/>
              </a:avLst>
            </a:prstGeom>
            <a:solidFill>
              <a:srgbClr val="46464A"/>
            </a:solidFill>
            <a:ln w="12700" cap="flat">
              <a:noFill/>
              <a:miter lim="400000"/>
            </a:ln>
            <a:effectLst/>
          </p:spPr>
          <p:txBody>
            <a:bodyPr wrap="square" lIns="45718" tIns="45718" rIns="45718" bIns="45718" numCol="1" anchor="t">
              <a:noAutofit/>
            </a:bodyPr>
            <a:lstStyle/>
            <a:p>
              <a:pPr>
                <a:defRPr>
                  <a:latin typeface="+mn-lt"/>
                  <a:ea typeface="+mn-ea"/>
                  <a:cs typeface="+mn-cs"/>
                  <a:sym typeface="Calibri"/>
                </a:defRPr>
              </a:pPr>
            </a:p>
          </p:txBody>
        </p:sp>
        <p:sp>
          <p:nvSpPr>
            <p:cNvPr id="186" name="Text 5"/>
            <p:cNvSpPr txBox="1"/>
            <p:nvPr/>
          </p:nvSpPr>
          <p:spPr>
            <a:xfrm>
              <a:off x="246815" y="246816"/>
              <a:ext cx="3090986" cy="6785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2700"/>
                </a:lnSpc>
                <a:defRPr b="1" sz="2100">
                  <a:latin typeface="Comfortaa Bold"/>
                  <a:ea typeface="Comfortaa Bold"/>
                  <a:cs typeface="Comfortaa Bold"/>
                  <a:sym typeface="Comfortaa Bold"/>
                </a:defRPr>
              </a:pPr>
              <a:r>
                <a:t>📚</a:t>
              </a:r>
              <a:r>
                <a:rPr>
                  <a:solidFill>
                    <a:srgbClr val="D7D4CC"/>
                  </a:solidFill>
                </a:rPr>
                <a:t> Library Documentation</a:t>
              </a:r>
            </a:p>
          </p:txBody>
        </p:sp>
        <p:sp>
          <p:nvSpPr>
            <p:cNvPr id="187" name="Text 6"/>
            <p:cNvSpPr txBox="1"/>
            <p:nvPr/>
          </p:nvSpPr>
          <p:spPr>
            <a:xfrm>
              <a:off x="246815" y="1080729"/>
              <a:ext cx="3090986" cy="15515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3100"/>
                </a:lnSpc>
                <a:defRPr sz="1900">
                  <a:solidFill>
                    <a:srgbClr val="D7D4CC"/>
                  </a:solidFill>
                  <a:latin typeface="Raleway Medium"/>
                  <a:ea typeface="Raleway Medium"/>
                  <a:cs typeface="Raleway Medium"/>
                  <a:sym typeface="Raleway Medium"/>
                </a:defRPr>
              </a:lvl1pPr>
            </a:lstStyle>
            <a:p>
              <a:pPr/>
              <a:r>
                <a:t>Understanding technical documentation for Pandas, SerpApi, and other tools without prior experience.</a:t>
              </a:r>
            </a:p>
          </p:txBody>
        </p:sp>
      </p:grpSp>
      <p:grpSp>
        <p:nvGrpSpPr>
          <p:cNvPr id="192" name="Group"/>
          <p:cNvGrpSpPr/>
          <p:nvPr/>
        </p:nvGrpSpPr>
        <p:grpSpPr>
          <a:xfrm>
            <a:off x="3607236" y="5700917"/>
            <a:ext cx="7415929" cy="1774749"/>
            <a:chOff x="0" y="0"/>
            <a:chExt cx="7415928" cy="1774747"/>
          </a:xfrm>
        </p:grpSpPr>
        <p:sp>
          <p:nvSpPr>
            <p:cNvPr id="189" name="Shape 7"/>
            <p:cNvSpPr/>
            <p:nvPr/>
          </p:nvSpPr>
          <p:spPr>
            <a:xfrm>
              <a:off x="0" y="0"/>
              <a:ext cx="7415929" cy="1774748"/>
            </a:xfrm>
            <a:prstGeom prst="roundRect">
              <a:avLst>
                <a:gd name="adj" fmla="val 20867"/>
              </a:avLst>
            </a:prstGeom>
            <a:solidFill>
              <a:srgbClr val="46464A"/>
            </a:solidFill>
            <a:ln w="12700" cap="flat">
              <a:noFill/>
              <a:miter lim="400000"/>
            </a:ln>
            <a:effectLst/>
          </p:spPr>
          <p:txBody>
            <a:bodyPr wrap="square" lIns="45718" tIns="45718" rIns="45718" bIns="45718" numCol="1" anchor="t">
              <a:noAutofit/>
            </a:bodyPr>
            <a:lstStyle/>
            <a:p>
              <a:pPr>
                <a:defRPr>
                  <a:latin typeface="+mn-lt"/>
                  <a:ea typeface="+mn-ea"/>
                  <a:cs typeface="+mn-cs"/>
                  <a:sym typeface="Calibri"/>
                </a:defRPr>
              </a:pPr>
            </a:p>
          </p:txBody>
        </p:sp>
        <p:sp>
          <p:nvSpPr>
            <p:cNvPr id="190" name="Text 8"/>
            <p:cNvSpPr txBox="1"/>
            <p:nvPr/>
          </p:nvSpPr>
          <p:spPr>
            <a:xfrm>
              <a:off x="246815" y="246817"/>
              <a:ext cx="2616938" cy="3636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p>
              <a:pPr>
                <a:lnSpc>
                  <a:spcPts val="2700"/>
                </a:lnSpc>
                <a:defRPr b="1" sz="2100">
                  <a:latin typeface="Comfortaa Bold"/>
                  <a:ea typeface="Comfortaa Bold"/>
                  <a:cs typeface="Comfortaa Bold"/>
                  <a:sym typeface="Comfortaa Bold"/>
                </a:defRPr>
              </a:pPr>
              <a:r>
                <a:t>🔄</a:t>
              </a:r>
              <a:r>
                <a:rPr>
                  <a:solidFill>
                    <a:srgbClr val="D7D4CC"/>
                  </a:solidFill>
                </a:rPr>
                <a:t> Data Consistency</a:t>
              </a:r>
            </a:p>
          </p:txBody>
        </p:sp>
        <p:sp>
          <p:nvSpPr>
            <p:cNvPr id="191" name="Text 9"/>
            <p:cNvSpPr txBox="1"/>
            <p:nvPr/>
          </p:nvSpPr>
          <p:spPr>
            <a:xfrm>
              <a:off x="246814" y="737830"/>
              <a:ext cx="6922297" cy="7641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3100"/>
                </a:lnSpc>
                <a:defRPr sz="1900">
                  <a:solidFill>
                    <a:srgbClr val="D7D4CC"/>
                  </a:solidFill>
                  <a:latin typeface="Raleway Medium"/>
                  <a:ea typeface="Raleway Medium"/>
                  <a:cs typeface="Raleway Medium"/>
                  <a:sym typeface="Raleway Medium"/>
                </a:defRPr>
              </a:lvl1pPr>
            </a:lstStyle>
            <a:p>
              <a:pPr/>
              <a:r>
                <a:t>Ensuring our programme handled different data formats and unexpected inputs gracefully.</a:t>
              </a: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ext 0"/>
          <p:cNvSpPr txBox="1"/>
          <p:nvPr/>
        </p:nvSpPr>
        <p:spPr>
          <a:xfrm>
            <a:off x="271528" y="3794133"/>
            <a:ext cx="4610038" cy="594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5400">
                <a:solidFill>
                  <a:srgbClr val="FFE14D"/>
                </a:solidFill>
                <a:latin typeface="Comfortaa Bold"/>
                <a:ea typeface="Comfortaa Bold"/>
                <a:cs typeface="Comfortaa Bold"/>
                <a:sym typeface="Comfortaa Bold"/>
              </a:defRPr>
            </a:lvl1pPr>
          </a:lstStyle>
          <a:p>
            <a:pPr/>
            <a:r>
              <a:t>What We Built</a:t>
            </a:r>
          </a:p>
        </p:txBody>
      </p:sp>
      <p:sp>
        <p:nvSpPr>
          <p:cNvPr id="195" name="Text 1"/>
          <p:cNvSpPr txBox="1"/>
          <p:nvPr/>
        </p:nvSpPr>
        <p:spPr>
          <a:xfrm>
            <a:off x="5509978" y="1943208"/>
            <a:ext cx="6758410" cy="37070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3300">
                <a:solidFill>
                  <a:srgbClr val="FFE14D"/>
                </a:solidFill>
                <a:latin typeface="Comfortaa Bold"/>
                <a:ea typeface="Comfortaa Bold"/>
                <a:cs typeface="Comfortaa Bold"/>
                <a:sym typeface="Comfortaa Bold"/>
              </a:defRPr>
            </a:lvl1pPr>
          </a:lstStyle>
          <a:p>
            <a:pPr/>
            <a:r>
              <a:t>A Working Price Comparison Tool</a:t>
            </a:r>
          </a:p>
        </p:txBody>
      </p:sp>
      <p:sp>
        <p:nvSpPr>
          <p:cNvPr id="196" name="Text 2"/>
          <p:cNvSpPr txBox="1"/>
          <p:nvPr/>
        </p:nvSpPr>
        <p:spPr>
          <a:xfrm>
            <a:off x="5509977" y="2532925"/>
            <a:ext cx="7500464" cy="15544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100"/>
              </a:lnSpc>
              <a:defRPr sz="2000">
                <a:solidFill>
                  <a:srgbClr val="D7D4CC"/>
                </a:solidFill>
                <a:latin typeface="Raleway Medium"/>
                <a:ea typeface="Raleway Medium"/>
                <a:cs typeface="Raleway Medium"/>
                <a:sym typeface="Raleway Medium"/>
              </a:defRPr>
            </a:pPr>
            <a:r>
              <a:t>Our final programme accepts user search queries, fetches live product data from Google Shopping via SerpApi, cleans and organises the information, and presents comparable results—all built from scratch by </a:t>
            </a:r>
            <a:r>
              <a:rPr i="1"/>
              <a:t>first-year students.</a:t>
            </a:r>
          </a:p>
        </p:txBody>
      </p:sp>
      <p:sp>
        <p:nvSpPr>
          <p:cNvPr id="197" name="Text 3"/>
          <p:cNvSpPr txBox="1"/>
          <p:nvPr/>
        </p:nvSpPr>
        <p:spPr>
          <a:xfrm>
            <a:off x="5509978" y="4335293"/>
            <a:ext cx="8803606" cy="194817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3100"/>
              </a:lnSpc>
              <a:defRPr sz="2000">
                <a:solidFill>
                  <a:srgbClr val="D7D4CC"/>
                </a:solidFill>
                <a:latin typeface="Raleway Medium"/>
                <a:ea typeface="Raleway Medium"/>
                <a:cs typeface="Raleway Medium"/>
                <a:sym typeface="Raleway Medium"/>
              </a:defRPr>
            </a:pPr>
            <a:r>
              <a:t>Is it perfect? Absolutely NOT. To be very honest, it is a very basic and a simple</a:t>
            </a:r>
          </a:p>
          <a:p>
            <a:pPr>
              <a:lnSpc>
                <a:spcPts val="3100"/>
              </a:lnSpc>
              <a:defRPr sz="2000">
                <a:solidFill>
                  <a:srgbClr val="D7D4CC"/>
                </a:solidFill>
                <a:latin typeface="Raleway Medium"/>
                <a:ea typeface="Raleway Medium"/>
                <a:cs typeface="Raleway Medium"/>
                <a:sym typeface="Raleway Medium"/>
              </a:defRPr>
            </a:pPr>
            <a:r>
              <a:t>program that just loads data from Google Shopping tab and compares the</a:t>
            </a:r>
          </a:p>
          <a:p>
            <a:pPr>
              <a:lnSpc>
                <a:spcPts val="3100"/>
              </a:lnSpc>
              <a:defRPr sz="2000">
                <a:solidFill>
                  <a:srgbClr val="D7D4CC"/>
                </a:solidFill>
                <a:latin typeface="Raleway Medium"/>
                <a:ea typeface="Raleway Medium"/>
                <a:cs typeface="Raleway Medium"/>
                <a:sym typeface="Raleway Medium"/>
              </a:defRPr>
            </a:pPr>
            <a:r>
              <a:t>price; sorts and merges all the duplicate entries into one and lists the </a:t>
            </a:r>
          </a:p>
          <a:p>
            <a:pPr>
              <a:lnSpc>
                <a:spcPts val="3100"/>
              </a:lnSpc>
              <a:defRPr sz="2000">
                <a:solidFill>
                  <a:srgbClr val="D7D4CC"/>
                </a:solidFill>
                <a:latin typeface="Raleway Medium"/>
                <a:ea typeface="Raleway Medium"/>
                <a:cs typeface="Raleway Medium"/>
                <a:sym typeface="Raleway Medium"/>
              </a:defRPr>
            </a:pPr>
            <a:r>
              <a:t>lowest price available for a particular product at any given point of time.</a:t>
            </a:r>
          </a:p>
          <a:p>
            <a:pPr>
              <a:lnSpc>
                <a:spcPts val="3100"/>
              </a:lnSpc>
              <a:defRPr sz="2000">
                <a:solidFill>
                  <a:srgbClr val="D7D4CC"/>
                </a:solidFill>
                <a:latin typeface="Raleway Medium"/>
                <a:ea typeface="Raleway Medium"/>
                <a:cs typeface="Raleway Medium"/>
                <a:sym typeface="Raleway Medium"/>
              </a:defRPr>
            </a:pPr>
            <a:r>
              <a:t>But it works, and we built it ourselves with the help of AI of course.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Text 0"/>
          <p:cNvSpPr txBox="1"/>
          <p:nvPr/>
        </p:nvSpPr>
        <p:spPr>
          <a:xfrm>
            <a:off x="864036" y="2296760"/>
            <a:ext cx="6619274" cy="308037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lnSpc>
                <a:spcPts val="5400"/>
              </a:lnSpc>
              <a:spcBef>
                <a:spcPts val="900"/>
              </a:spcBef>
              <a:defRPr b="1" sz="4500">
                <a:solidFill>
                  <a:srgbClr val="FFE14D"/>
                </a:solidFill>
                <a:latin typeface="Comfortaa Bold"/>
                <a:ea typeface="Comfortaa Bold"/>
                <a:cs typeface="Comfortaa Bold"/>
                <a:sym typeface="Comfortaa Bold"/>
              </a:defRPr>
            </a:pPr>
            <a:r>
              <a:t>Mohsin Syed - </a:t>
            </a:r>
            <a:r>
              <a:rPr>
                <a:solidFill>
                  <a:srgbClr val="D6D4CD"/>
                </a:solidFill>
              </a:rPr>
              <a:t>ICE</a:t>
            </a:r>
            <a:endParaRPr>
              <a:solidFill>
                <a:srgbClr val="D6D4CD"/>
              </a:solidFill>
            </a:endParaRPr>
          </a:p>
          <a:p>
            <a:pPr>
              <a:lnSpc>
                <a:spcPts val="5400"/>
              </a:lnSpc>
              <a:spcBef>
                <a:spcPts val="900"/>
              </a:spcBef>
              <a:defRPr b="1" sz="4500">
                <a:solidFill>
                  <a:srgbClr val="FFE14D"/>
                </a:solidFill>
                <a:latin typeface="Comfortaa Bold"/>
                <a:ea typeface="Comfortaa Bold"/>
                <a:cs typeface="Comfortaa Bold"/>
                <a:sym typeface="Comfortaa Bold"/>
              </a:defRPr>
            </a:pPr>
            <a:r>
              <a:t>Ninad Joshi - </a:t>
            </a:r>
            <a:r>
              <a:rPr>
                <a:solidFill>
                  <a:srgbClr val="D6D4CD"/>
                </a:solidFill>
              </a:rPr>
              <a:t>ECE</a:t>
            </a:r>
            <a:endParaRPr>
              <a:solidFill>
                <a:srgbClr val="D6D4CD"/>
              </a:solidFill>
            </a:endParaRPr>
          </a:p>
          <a:p>
            <a:pPr>
              <a:lnSpc>
                <a:spcPts val="5400"/>
              </a:lnSpc>
              <a:spcBef>
                <a:spcPts val="900"/>
              </a:spcBef>
              <a:defRPr b="1" sz="4500">
                <a:solidFill>
                  <a:srgbClr val="FFE14D"/>
                </a:solidFill>
                <a:latin typeface="Comfortaa Bold"/>
                <a:ea typeface="Comfortaa Bold"/>
                <a:cs typeface="Comfortaa Bold"/>
                <a:sym typeface="Comfortaa Bold"/>
              </a:defRPr>
            </a:pPr>
            <a:r>
              <a:t>Vaishnav Ghutake - </a:t>
            </a:r>
            <a:r>
              <a:rPr>
                <a:solidFill>
                  <a:srgbClr val="D6D4CD"/>
                </a:solidFill>
              </a:rPr>
              <a:t>ECE</a:t>
            </a:r>
            <a:endParaRPr>
              <a:solidFill>
                <a:srgbClr val="D6D4CD"/>
              </a:solidFill>
            </a:endParaRPr>
          </a:p>
          <a:p>
            <a:pPr>
              <a:lnSpc>
                <a:spcPts val="5400"/>
              </a:lnSpc>
              <a:spcBef>
                <a:spcPts val="900"/>
              </a:spcBef>
              <a:defRPr b="1" sz="4500">
                <a:solidFill>
                  <a:srgbClr val="FFE14D"/>
                </a:solidFill>
                <a:latin typeface="Comfortaa Bold"/>
                <a:ea typeface="Comfortaa Bold"/>
                <a:cs typeface="Comfortaa Bold"/>
                <a:sym typeface="Comfortaa Bold"/>
              </a:defRPr>
            </a:pPr>
            <a:r>
              <a:t>Nakul Bachani - </a:t>
            </a:r>
            <a:r>
              <a:rPr>
                <a:solidFill>
                  <a:srgbClr val="D6D4CD"/>
                </a:solidFill>
              </a:rPr>
              <a:t>MME</a:t>
            </a:r>
          </a:p>
        </p:txBody>
      </p:sp>
      <p:sp>
        <p:nvSpPr>
          <p:cNvPr id="200" name="Text 1"/>
          <p:cNvSpPr txBox="1"/>
          <p:nvPr/>
        </p:nvSpPr>
        <p:spPr>
          <a:xfrm>
            <a:off x="849856" y="6194502"/>
            <a:ext cx="2775881" cy="51751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800"/>
              </a:lnSpc>
              <a:defRPr b="1" sz="4500">
                <a:solidFill>
                  <a:srgbClr val="D7D4CC"/>
                </a:solidFill>
              </a:defRPr>
            </a:lvl1pPr>
          </a:lstStyle>
          <a:p>
            <a:pPr/>
            <a:r>
              <a:t>NIT Trichy</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